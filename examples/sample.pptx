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508000"/>
            <a:ext cx="111760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11111"/>
                </a:solidFill>
                <a:latin typeface="Arial"/>
              </a:rPr>
              <a:t>md2pptx Sample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8000" y="1361440"/>
            <a:ext cx="11176000" cy="67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Markdown から PPTX を書き出す最小サンプルです。</a:t>
            </a:r>
            <a:r>
              <a:rPr lang="en-US" sz="2200" b="1">
                <a:solidFill>
                  <a:srgbClr val="222222"/>
                </a:solidFill>
                <a:latin typeface="Arial"/>
              </a:rPr>
              <a:t>太字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、</a:t>
            </a:r>
            <a:r>
              <a:rPr lang="en-US" sz="2200" i="1">
                <a:solidFill>
                  <a:srgbClr val="222222"/>
                </a:solidFill>
                <a:latin typeface="Arial"/>
              </a:rPr>
              <a:t>斜体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、</a:t>
            </a:r>
            <a:r>
              <a:rPr lang="en-US" sz="2000">
                <a:highlight>
                  <a:srgbClr val="F9F2F4"/>
                </a:highlight>
                <a:solidFill>
                  <a:srgbClr val="C7254E"/>
                </a:solidFill>
                <a:latin typeface="Consolas"/>
              </a:rPr>
              <a:t>inline code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 を含みます。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63600" y="2184400"/>
            <a:ext cx="10820400" cy="335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- 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スライドは </a:t>
            </a:r>
            <a:r>
              <a:rPr lang="en-US" sz="2000">
                <a:highlight>
                  <a:srgbClr val="F9F2F4"/>
                </a:highlight>
                <a:solidFill>
                  <a:srgbClr val="C7254E"/>
                </a:solidFill>
                <a:latin typeface="Consolas"/>
              </a:rPr>
              <a:t>---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 で分割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63600" y="2621280"/>
            <a:ext cx="10820400" cy="335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- 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箇条書きに対応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63600" y="3058160"/>
            <a:ext cx="10820400" cy="335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- 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レイアウト超過は警告として表示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508000"/>
            <a:ext cx="111760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11111"/>
                </a:solidFill>
                <a:latin typeface="Arial"/>
              </a:rPr>
              <a:t>Code and Quote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60400" y="1361440"/>
            <a:ext cx="50800" cy="60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square"/>
          <a:lstStyle/>
          <a:p/>
        </p:txBody>
      </p:sp>
      <p:sp>
        <p:nvSpPr>
          <p:cNvPr id="10003" name="Text 10003"/>
          <p:cNvSpPr txBox="1"/>
          <p:nvPr/>
        </p:nvSpPr>
        <p:spPr>
          <a:xfrm>
            <a:off x="812800" y="151384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 i="1">
                <a:solidFill>
                  <a:srgbClr val="555555"/>
                </a:solidFill>
                <a:latin typeface="Arial"/>
              </a:rPr>
              <a:t>引用ブロックもテキストボックスとして出力します。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60400" y="2123440"/>
            <a:ext cx="10871200" cy="110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/>
          <a:lstStyle/>
          <a:p>
            <a:r>
              <a:rPr lang="en-US" sz="1600">
                <a:solidFill>
                  <a:srgbClr val="111111"/>
                </a:solidFill>
                <a:latin typeface="Consolas"/>
              </a:rPr>
              <a:t>fn main() {
    println!("hello pptx");
}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508000"/>
            <a:ext cx="111760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11111"/>
                </a:solidFill>
                <a:latin typeface="Arial"/>
              </a:rPr>
              <a:t>Next Steps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63600" y="1361440"/>
            <a:ext cx="10820400" cy="335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1. 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画像は Markdown ファイルからの相対パスで解決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63600" y="1798320"/>
            <a:ext cx="10820400" cy="335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2. 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Mermaid は SVG 図として出力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63600" y="2235200"/>
            <a:ext cx="10820400" cy="335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3. 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複雑なレイアウトは今後追加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508000"/>
            <a:ext cx="111760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11111"/>
                </a:solidFill>
                <a:latin typeface="Arial"/>
              </a:rPr>
              <a:t>Mermaid</a:t>
            </a:r>
          </a:p>
        </p:txBody>
      </p:sp>
      <p:pic>
        <p:nvPicPr>
          <p:cNvPr id="3" name="Mermaid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508000" y="1361440"/>
            <a:ext cx="11176000" cy="15456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8000" y="508000"/>
            <a:ext cx="111760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11111"/>
                </a:solidFill>
                <a:latin typeface="Arial"/>
              </a:rPr>
              <a:t>Two Columns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08000" y="1361440"/>
            <a:ext cx="5435600" cy="4381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222222"/>
                </a:solidFill>
                <a:latin typeface="Arial"/>
              </a:rPr>
              <a:t>Left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63600" y="1977390"/>
            <a:ext cx="5080000" cy="335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- 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箇条書き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63600" y="2414270"/>
            <a:ext cx="5080000" cy="335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- </a:t>
            </a:r>
            <a:r>
              <a:rPr lang="en-US" sz="2200">
                <a:solidFill>
                  <a:srgbClr val="222222"/>
                </a:solidFill>
                <a:latin typeface="Arial"/>
              </a:rPr>
              <a:t>通常のMarkdown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48400" y="1361440"/>
            <a:ext cx="5435600" cy="4381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 b="1">
                <a:solidFill>
                  <a:srgbClr val="222222"/>
                </a:solidFill>
                <a:latin typeface="Arial"/>
              </a:rPr>
              <a:t>Right</a:t>
            </a:r>
          </a:p>
        </p:txBody>
      </p:sp>
      <p:sp>
        <p:nvSpPr>
          <p:cNvPr id="7" name="Table Cell 7"/>
          <p:cNvSpPr txBox="1"/>
          <p:nvPr/>
        </p:nvSpPr>
        <p:spPr>
          <a:xfrm>
            <a:off x="6248400" y="1977390"/>
            <a:ext cx="2717800" cy="487680"/>
          </a:xfrm>
          <a:prstGeom prst="rect">
            <a:avLst/>
          </a:prstGeom>
          <a:solidFill>
            <a:srgbClr val="EEF1F5"/>
          </a:solidFill>
          <a:ln w="6350">
            <a:solidFill>
              <a:srgbClr val="C9CDD3"/>
            </a:solidFill>
          </a:ln>
        </p:spPr>
        <p:txBody>
          <a:bodyPr wrap="square" lIns="76200" tIns="50800" rIns="76200" bIns="50800"/>
          <a:lstStyle/>
          <a:p>
            <a:r>
              <a:rPr lang="en-US" sz="2200" b="1">
                <a:solidFill>
                  <a:srgbClr val="222222"/>
                </a:solidFill>
                <a:latin typeface="Arial"/>
              </a:rPr>
              <a:t>項目</a:t>
            </a:r>
          </a:p>
        </p:txBody>
      </p:sp>
      <p:sp>
        <p:nvSpPr>
          <p:cNvPr id="8" name="Table Cell 8"/>
          <p:cNvSpPr txBox="1"/>
          <p:nvPr/>
        </p:nvSpPr>
        <p:spPr>
          <a:xfrm>
            <a:off x="8966200" y="1977390"/>
            <a:ext cx="2717800" cy="487680"/>
          </a:xfrm>
          <a:prstGeom prst="rect">
            <a:avLst/>
          </a:prstGeom>
          <a:solidFill>
            <a:srgbClr val="EEF1F5"/>
          </a:solidFill>
          <a:ln w="6350">
            <a:solidFill>
              <a:srgbClr val="C9CDD3"/>
            </a:solidFill>
          </a:ln>
        </p:spPr>
        <p:txBody>
          <a:bodyPr wrap="square" lIns="76200" tIns="50800" rIns="76200" bIns="50800"/>
          <a:lstStyle/>
          <a:p>
            <a:pPr algn="r"/>
            <a:r>
              <a:rPr lang="en-US" sz="2200" b="1">
                <a:solidFill>
                  <a:srgbClr val="222222"/>
                </a:solidFill>
                <a:latin typeface="Arial"/>
              </a:rPr>
              <a:t>値</a:t>
            </a:r>
          </a:p>
        </p:txBody>
      </p:sp>
      <p:sp>
        <p:nvSpPr>
          <p:cNvPr id="9" name="Table Cell 9"/>
          <p:cNvSpPr txBox="1"/>
          <p:nvPr/>
        </p:nvSpPr>
        <p:spPr>
          <a:xfrm>
            <a:off x="6248400" y="2465070"/>
            <a:ext cx="27178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3"/>
            </a:solidFill>
          </a:ln>
        </p:spPr>
        <p:txBody>
          <a:bodyPr wrap="square" lIns="76200" tIns="50800" rIns="76200" bIns="50800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10" name="Table Cell 10"/>
          <p:cNvSpPr txBox="1"/>
          <p:nvPr/>
        </p:nvSpPr>
        <p:spPr>
          <a:xfrm>
            <a:off x="8966200" y="2465070"/>
            <a:ext cx="27178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3"/>
            </a:solidFill>
          </a:ln>
        </p:spPr>
        <p:txBody>
          <a:bodyPr wrap="square" lIns="76200" tIns="50800" rIns="76200" bIns="50800"/>
          <a:lstStyle/>
          <a:p>
            <a:pPr algn="r"/>
            <a:r>
              <a:rPr lang="en-US" sz="220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11" name="Table Cell 11"/>
          <p:cNvSpPr txBox="1"/>
          <p:nvPr/>
        </p:nvSpPr>
        <p:spPr>
          <a:xfrm>
            <a:off x="6248400" y="2952750"/>
            <a:ext cx="27178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3"/>
            </a:solidFill>
          </a:ln>
        </p:spPr>
        <p:txBody>
          <a:bodyPr wrap="square" lIns="76200" tIns="50800" rIns="76200" bIns="50800"/>
          <a:lstStyle/>
          <a:p>
            <a:r>
              <a:rPr lang="en-US" sz="220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12" name="Table Cell 12"/>
          <p:cNvSpPr txBox="1"/>
          <p:nvPr/>
        </p:nvSpPr>
        <p:spPr>
          <a:xfrm>
            <a:off x="8966200" y="2952750"/>
            <a:ext cx="27178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CDD3"/>
            </a:solidFill>
          </a:ln>
        </p:spPr>
        <p:txBody>
          <a:bodyPr wrap="square" lIns="76200" tIns="50800" rIns="76200" bIns="50800"/>
          <a:lstStyle/>
          <a:p>
            <a:pPr algn="r"/>
            <a:r>
              <a:rPr lang="en-US" sz="2200">
                <a:solidFill>
                  <a:srgbClr val="22222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pptx">
  <a:themeElements>
    <a:clrScheme name="md2pptx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ppt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d2pptx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md2pptx</dc:creator>
  <cp:lastModifiedBy>md2pptx</cp:lastModifiedBy>
</cp:coreProperties>
</file>